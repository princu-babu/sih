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500000" y="1100000"/>
            <a:ext cx="6000000" cy="800000"/>
          </a:xfrm>
        </p:spPr>
        <p:txBody>
          <a:bodyPr/>
          <a:lstStyle/>
          <a:p>
            <a:pPr>
              <a:buNone/>
            </a:pPr>
            <a:r>
              <a:rPr sz="2200" b="1">
                <a:solidFill>
                  <a:srgbClr val="1E3A5F"/>
                </a:solidFill>
              </a:rPr>
              <a:t>NAWI-ReportPro: OIML R-76 Digital Platform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0000" y="2000000"/>
            <a:ext cx="5800000" cy="38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  <a:buNone/>
            </a:pPr>
            <a:r>
              <a:rPr b="1" sz="1500">
                <a:solidFill>
                  <a:srgbClr val="1E3A5F"/>
                </a:solidFill>
              </a:rPr>
              <a:t>Problem Statement ID: </a:t>
            </a:r>
            <a:r>
              <a:rPr b="1" sz="1500">
                <a:solidFill>
                  <a:srgbClr val="D97706"/>
                </a:solidFill>
              </a:rPr>
              <a:t>26035</a:t>
            </a:r>
            <a:endParaRPr lang="en-US" dirty="0"/>
          </a:p>
          <a:p>
            <a:pPr>
              <a:spcAft>
                <a:spcPts val="1000"/>
              </a:spcAft>
              <a:buNone/>
            </a:pPr>
            <a:r>
              <a:rPr b="1" sz="1500">
                <a:solidFill>
                  <a:srgbClr val="1E3A5F"/>
                </a:solidFill>
              </a:rPr>
              <a:t>Problem Statement Title:
</a:t>
            </a:r>
            <a:r>
              <a:rPr b="0" sz="1500">
                <a:solidFill>
                  <a:srgbClr val="0F172A"/>
                </a:solidFill>
              </a:rPr>
              <a:t>Automated Test Report Generator for
Non-Automatic Weighing Instruments (NAWI)</a:t>
            </a:r>
          </a:p>
          <a:p>
            <a:pPr>
              <a:spcAft>
                <a:spcPts val="1000"/>
              </a:spcAft>
              <a:buNone/>
            </a:pPr>
            <a:r>
              <a:rPr b="1" sz="1500">
                <a:solidFill>
                  <a:srgbClr val="1E3A5F"/>
                </a:solidFill>
              </a:rPr>
              <a:t>Theme: </a:t>
            </a:r>
            <a:r>
              <a:rPr b="0" sz="1500">
                <a:solidFill>
                  <a:srgbClr val="0F172A"/>
                </a:solidFill>
              </a:rPr>
              <a:t>Smart Automation</a:t>
            </a:r>
          </a:p>
          <a:p>
            <a:pPr>
              <a:spcAft>
                <a:spcPts val="1000"/>
              </a:spcAft>
              <a:buNone/>
            </a:pPr>
            <a:r>
              <a:rPr b="1" sz="1500">
                <a:solidFill>
                  <a:srgbClr val="1E3A5F"/>
                </a:solidFill>
              </a:rPr>
              <a:t>PS Category: </a:t>
            </a:r>
            <a:r>
              <a:rPr b="0" sz="1500">
                <a:solidFill>
                  <a:srgbClr val="0F172A"/>
                </a:solidFill>
              </a:rPr>
              <a:t>Software</a:t>
            </a:r>
          </a:p>
          <a:p>
            <a:pPr>
              <a:spcAft>
                <a:spcPts val="1000"/>
              </a:spcAft>
              <a:buNone/>
            </a:pPr>
            <a:r>
              <a:rPr b="1" sz="1500">
                <a:solidFill>
                  <a:srgbClr val="1E3A5F"/>
                </a:solidFill>
              </a:rPr>
              <a:t>Team ID: </a:t>
            </a:r>
            <a:r>
              <a:rPr b="0" sz="1500">
                <a:solidFill>
                  <a:srgbClr val="0F172A"/>
                </a:solidFill>
              </a:rPr>
              <a:t>SIH2026-TEAM-NAWI</a:t>
            </a:r>
          </a:p>
          <a:p>
            <a:pPr>
              <a:spcAft>
                <a:spcPts val="1000"/>
              </a:spcAft>
              <a:buNone/>
            </a:pPr>
            <a:r>
              <a:rPr b="1" sz="1500">
                <a:solidFill>
                  <a:srgbClr val="1E3A5F"/>
                </a:solidFill>
              </a:rPr>
              <a:t>Team Name: </a:t>
            </a:r>
            <a:r>
              <a:rPr b="0" sz="1500">
                <a:solidFill>
                  <a:srgbClr val="0F172A"/>
                </a:solidFill>
              </a:rPr>
              <a:t>Metrology Innovators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00000" y="4700000"/>
            <a:ext cx="5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200" b="0">
                <a:solidFill>
                  <a:srgbClr val="1E3A5F"/>
                </a:solidFill>
              </a:rPr>
              <a:t>Institution: [Your College Name Here]  |  Mentor: [Faculty SPOC Name]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0000" y="5400000"/>
            <a:ext cx="8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250" i="1" b="0">
                <a:solidFill>
                  <a:srgbClr val="334155"/>
                </a:solidFill>
              </a:rPr>
              <a:t>Automating India's Legal Metrology Verification across 1,656 Agricultural Mandis under OIML R-76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50000" y="200000"/>
            <a:ext cx="8000000" cy="900000"/>
          </a:xfrm>
        </p:spPr>
        <p:txBody>
          <a:bodyPr/>
          <a:lstStyle/>
          <a:p>
            <a:pPr eaLnBrk="1" hangingPunct="1">
              <a:buNone/>
            </a:pP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r>
              <a:rPr sz="2200" b="1">
                <a:solidFill>
                  <a:srgbClr val="1E3A5F"/>
                </a:solidFill>
              </a:rPr>
              <a:t>IDEA TITLE: NAWI-ReportPro — Automated Digital Metrology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400000" y="1200000"/>
            <a:ext cx="5600000" cy="340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None/>
            </a:pPr>
            <a:r>
              <a:rPr lang="en-US" sz="32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/>
            </a:r>
            <a:r>
              <a:rPr sz="1800" b="1">
                <a:solidFill>
                  <a:srgbClr val="1E3A5F"/>
                </a:solidFill>
              </a:rPr>
              <a:t>Proposed Solution &amp; Core Innovations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spcAft>
                <a:spcPts val="800"/>
              </a:spcAft>
              <a:buNone/>
            </a:pPr>
            <a:r>
              <a:rPr b="1" sz="1200">
                <a:solidFill>
                  <a:srgbClr val="0F172A"/>
                </a:solidFill>
              </a:rPr>
              <a:t>• Digital Transformation: </a:t>
            </a:r>
            <a:r>
              <a:rPr b="0" sz="1100">
                <a:solidFill>
                  <a:srgbClr val="334155"/>
                </a:solidFill>
              </a:rPr>
              <a:t>Replaces manual paper verification for Non-Automatic Weighing Instruments (scales &amp; truck weighbridges) with an end-to-end digital system.</a:t>
            </a:r>
          </a:p>
          <a:p>
            <a:pPr>
              <a:spcAft>
                <a:spcPts val="800"/>
              </a:spcAft>
              <a:buNone/>
            </a:pPr>
            <a:r>
              <a:rPr b="1" sz="1200">
                <a:solidFill>
                  <a:srgbClr val="0F172A"/>
                </a:solidFill>
              </a:rPr>
              <a:t>• Direct Scale Telemetry: </a:t>
            </a:r>
            <a:r>
              <a:rPr b="0" sz="1100">
                <a:solidFill>
                  <a:srgbClr val="334155"/>
                </a:solidFill>
              </a:rPr>
              <a:t>Connects directly to weighing indicators via browser Web Serial API (RS-232/USB) — live weight capture with zero manual typing errors.</a:t>
            </a:r>
          </a:p>
          <a:p>
            <a:pPr>
              <a:spcAft>
                <a:spcPts val="800"/>
              </a:spcAft>
              <a:buNone/>
            </a:pPr>
            <a:r>
              <a:rPr b="1" sz="1200">
                <a:solidFill>
                  <a:srgbClr val="0F172A"/>
                </a:solidFill>
              </a:rPr>
              <a:t>• OIML R-76 Engine: </a:t>
            </a:r>
            <a:r>
              <a:rPr b="0" sz="1100">
                <a:solidFill>
                  <a:srgbClr val="334155"/>
                </a:solidFill>
              </a:rPr>
              <a:t>Automates Maximum Permissible Error (MPE) calculations across all 4 accuracy classes (Class I to IIII) with multi-interval tare compensation.</a:t>
            </a:r>
          </a:p>
          <a:p>
            <a:pPr>
              <a:spcAft>
                <a:spcPts val="800"/>
              </a:spcAft>
              <a:buNone/>
            </a:pPr>
            <a:r>
              <a:rPr b="1" sz="1200">
                <a:solidFill>
                  <a:srgbClr val="0F172A"/>
                </a:solidFill>
              </a:rPr>
              <a:t>• Tamper-Proof Certificates: </a:t>
            </a:r>
            <a:r>
              <a:rPr b="0" sz="1100">
                <a:solidFill>
                  <a:srgbClr val="334155"/>
                </a:solidFill>
              </a:rPr>
              <a:t>Issues legal verification certificates secured with HMAC-SHA256 digital seals and instant QR code public verification.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50000" y="180000"/>
            <a:ext cx="1250000" cy="8000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lang="en-US" dirty="0"/>
              <a:t/>
            </a:r>
            <a:r>
              <a:rPr sz="1000" b="1">
                <a:solidFill>
                  <a:srgbClr val="FFFFFF"/>
                </a:solidFill>
              </a:rPr>
              <a:t>Metrology
Innovators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400000" y="4850000"/>
            <a:ext cx="5600000" cy="11500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buNone/>
            </a:pPr>
            <a:r>
              <a:rPr sz="1100" b="1">
                <a:solidFill>
                  <a:srgbClr val="D97706"/>
                </a:solidFill>
              </a:rPr>
              <a:t>KEY METROLOGICAL &amp; ECONOMIC INNOVATION</a:t>
            </a:r>
          </a:p>
          <a:p>
            <a:pPr>
              <a:buNone/>
            </a:pPr>
            <a:r>
              <a:rPr sz="1000" b="0">
                <a:solidFill>
                  <a:srgbClr val="0F172A"/>
                </a:solidFill>
              </a:rPr>
              <a:t>Direct browser-to-indicator Web Serial API eliminates ₹50,000 proprietary hardware converters per mandi — runs on existing mandi weighbridge PCs with zero driver installation.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6200000" y="1300000"/>
            <a:ext cx="5500000" cy="105000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80000" bIns="80000"/>
          <a:lstStyle/>
          <a:p>
            <a:pPr algn="ctr">
              <a:spcAft>
                <a:spcPts val="600"/>
              </a:spcAft>
              <a:buNone/>
            </a:pPr>
            <a:r>
              <a:rPr sz="1300" b="1">
                <a:solidFill>
                  <a:srgbClr val="FFFFFF"/>
                </a:solidFill>
              </a:rPr>
              <a:t>① OIML R-76 Compliant Engine</a:t>
            </a:r>
          </a:p>
          <a:p>
            <a:pPr algn="ctr">
              <a:buNone/>
            </a:pPr>
            <a:r>
              <a:rPr sz="1000" b="0">
                <a:solidFill>
                  <a:srgbClr val="FFFFFF"/>
                </a:solidFill>
              </a:rPr>
              <a:t>Automated MPE calculations for Class I–IIII
Multi-interval tare compensation • Tolerance validation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6200000" y="2450000"/>
            <a:ext cx="5500000" cy="1050000"/>
          </a:xfrm>
          <a:prstGeom prst="roundRect">
            <a:avLst>
              <a:gd name="adj" fmla="val 5000"/>
            </a:avLst>
          </a:prstGeom>
          <a:solidFill>
            <a:srgbClr val="165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80000" bIns="80000"/>
          <a:lstStyle/>
          <a:p>
            <a:pPr algn="ctr">
              <a:spcAft>
                <a:spcPts val="600"/>
              </a:spcAft>
              <a:buNone/>
            </a:pPr>
            <a:r>
              <a:rPr sz="1300" b="1">
                <a:solidFill>
                  <a:srgbClr val="FFFFFF"/>
                </a:solidFill>
              </a:rPr>
              <a:t>② Live RS-232 Telemetry</a:t>
            </a:r>
          </a:p>
          <a:p>
            <a:pPr algn="ctr">
              <a:buNone/>
            </a:pPr>
            <a:r>
              <a:rPr sz="1000" b="0">
                <a:solidFill>
                  <a:srgbClr val="FFFFFF"/>
                </a:solidFill>
              </a:rPr>
              <a:t>Real-time weight capture from Mettler Toledo SICS,
Avery Weigh-Tronix &amp; Essae indicators • Zero typing errors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6200000" y="3600000"/>
            <a:ext cx="5500000" cy="1050000"/>
          </a:xfrm>
          <a:prstGeom prst="roundRect">
            <a:avLst>
              <a:gd name="adj" fmla="val 5000"/>
            </a:avLst>
          </a:prstGeom>
          <a:solidFill>
            <a:srgbClr val="0D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80000" bIns="80000"/>
          <a:lstStyle/>
          <a:p>
            <a:pPr algn="ctr">
              <a:spcAft>
                <a:spcPts val="600"/>
              </a:spcAft>
              <a:buNone/>
            </a:pPr>
            <a:r>
              <a:rPr sz="1300" b="1">
                <a:solidFill>
                  <a:srgbClr val="FFFFFF"/>
                </a:solidFill>
              </a:rPr>
              <a:t>③ Tamper-Proof Digital Certificates</a:t>
            </a:r>
          </a:p>
          <a:p>
            <a:pPr algn="ctr">
              <a:buNone/>
            </a:pPr>
            <a:r>
              <a:rPr sz="1000" b="0">
                <a:solidFill>
                  <a:srgbClr val="FFFFFF"/>
                </a:solidFill>
              </a:rPr>
              <a:t>HMAC-SHA256 cryptographic seals • QR verification
Public portal at /verify/:certificateNo • Immutable audit trail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6200000" y="4750000"/>
            <a:ext cx="5500000" cy="1050000"/>
          </a:xfrm>
          <a:prstGeom prst="roundRect">
            <a:avLst>
              <a:gd name="adj" fmla="val 5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rIns="100000" tIns="80000" bIns="80000"/>
          <a:lstStyle/>
          <a:p>
            <a:pPr algn="ctr">
              <a:spcAft>
                <a:spcPts val="600"/>
              </a:spcAft>
              <a:buNone/>
            </a:pPr>
            <a:r>
              <a:rPr sz="1300" b="1">
                <a:solidFill>
                  <a:srgbClr val="FFFFFF"/>
                </a:solidFill>
              </a:rPr>
              <a:t>④ Offline-First PWA</a:t>
            </a:r>
          </a:p>
          <a:p>
            <a:pPr algn="ctr">
              <a:buNone/>
            </a:pPr>
            <a:r>
              <a:rPr sz="1000" b="0">
                <a:solidFill>
                  <a:srgbClr val="FFFFFF"/>
                </a:solidFill>
              </a:rPr>
              <a:t>IndexedDB local cache • Background auto-sync
Works in zero-connectivity rural mandis • Zero data loss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50000" y="200000"/>
            <a:ext cx="8000000" cy="900000"/>
          </a:xfrm>
        </p:spPr>
        <p:txBody>
          <a:bodyPr/>
          <a:lstStyle/>
          <a:p>
            <a:pPr eaLnBrk="1" hangingPunct="1">
              <a:buNone/>
            </a:pP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r>
              <a:rPr sz="2200" b="1">
                <a:solidFill>
                  <a:srgbClr val="1E3A5F"/>
                </a:solidFill>
              </a:rPr>
              <a:t>TECHNICAL APPROACH: System Architecture &amp; Stack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00000" y="1150000"/>
            <a:ext cx="11400000" cy="140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300"/>
              </a:spcAft>
              <a:buNone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/>
            </a:r>
            <a:r>
              <a:rPr b="1" sz="1200">
                <a:solidFill>
                  <a:srgbClr val="0F172A"/>
                </a:solidFill>
              </a:rPr>
              <a:t>• Hardware Layer: </a:t>
            </a:r>
            <a:r>
              <a:rPr b="0" sz="1100">
                <a:solidFill>
                  <a:srgbClr val="334155"/>
                </a:solidFill>
              </a:rPr>
              <a:t>Browser Web Serial API reads continuous ASCII/HEX telemetry (9600 baud, 8-N-1) from Mettler Toledo SICS, Avery Weigh-Tronix &amp; Essae indicators.</a:t>
            </a:r>
          </a:p>
          <a:p>
            <a:pPr>
              <a:spcAft>
                <a:spcPts val="300"/>
              </a:spcAft>
              <a:buNone/>
            </a:pPr>
            <a:r>
              <a:rPr b="1" sz="1200">
                <a:solidFill>
                  <a:srgbClr val="0F172A"/>
                </a:solidFill>
              </a:rPr>
              <a:t>• Application Stack: </a:t>
            </a:r>
            <a:r>
              <a:rPr b="0" sz="1100">
                <a:solidFill>
                  <a:srgbClr val="334155"/>
                </a:solidFill>
              </a:rPr>
              <a:t>React 18 PWA + Node.js Express REST API + PostgreSQL 14 (Prisma ORM) + PDFKit certificate engine + HMAC-SHA256 signer.</a:t>
            </a:r>
          </a:p>
          <a:p>
            <a:pPr>
              <a:spcAft>
                <a:spcPts val="300"/>
              </a:spcAft>
              <a:buNone/>
            </a:pPr>
            <a:r>
              <a:rPr b="1" sz="1200">
                <a:solidFill>
                  <a:srgbClr val="0F172A"/>
                </a:solidFill>
              </a:rPr>
              <a:t>• Metrology &amp; Offline: </a:t>
            </a:r>
            <a:r>
              <a:rPr b="0" sz="1100">
                <a:solidFill>
                  <a:srgbClr val="334155"/>
                </a:solidFill>
              </a:rPr>
              <a:t>OIML R-76 MPE engine (all 4 accuracy classes), ISO GUM uncertainty budget (k=2), IndexedDB queue with idempotent background sync.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50000" y="180000"/>
            <a:ext cx="1250000" cy="8000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lang="en-US" dirty="0"/>
              <a:t/>
            </a:r>
            <a:r>
              <a:rPr sz="1000" b="1">
                <a:solidFill>
                  <a:srgbClr val="FFFFFF"/>
                </a:solidFill>
              </a:rPr>
              <a:t>Metrology
Innovators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00000" y="2700000"/>
            <a:ext cx="2600000" cy="450000"/>
          </a:xfrm>
          <a:prstGeom prst="roundRect">
            <a:avLst>
              <a:gd name="adj" fmla="val 1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100" b="1">
                <a:solidFill>
                  <a:srgbClr val="FFFFFF"/>
                </a:solidFill>
              </a:rPr>
              <a:t>FIELD LAYER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50000" y="32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RS-232/USB Serial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50000" y="36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Weighing Indicators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50000" y="40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Mettler/Avery/Essae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50000" y="44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9600 baud 8-N-1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50000" y="48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Real-Time Telemetry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200000" y="2700000"/>
            <a:ext cx="2600000" cy="45000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100" b="1">
                <a:solidFill>
                  <a:srgbClr val="FFFFFF"/>
                </a:solidFill>
              </a:rPr>
              <a:t>PRESENTATION LAYER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50000" y="32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React 18 PWA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250000" y="36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Web Serial API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50000" y="40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IndexedDB Cache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250000" y="44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Service Worker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250000" y="48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Zustand State Store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000000" y="2700000"/>
            <a:ext cx="2600000" cy="450000"/>
          </a:xfrm>
          <a:prstGeom prst="roundRect">
            <a:avLst>
              <a:gd name="adj" fmla="val 10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100" b="1">
                <a:solidFill>
                  <a:srgbClr val="FFFFFF"/>
                </a:solidFill>
              </a:rPr>
              <a:t>APPLICATION LAYER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050000" y="32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OIML R-76 Engine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6050000" y="36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Uncertainty Calc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050000" y="40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PDFKit Generator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6050000" y="44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HMAC-SHA256 Seal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050000" y="48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Telemetry Simulator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8800000" y="2700000"/>
            <a:ext cx="2600000" cy="450000"/>
          </a:xfrm>
          <a:prstGeom prst="roundRect">
            <a:avLst>
              <a:gd name="adj" fmla="val 1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100" b="1">
                <a:solidFill>
                  <a:srgbClr val="FFFFFF"/>
                </a:solidFill>
              </a:rPr>
              <a:t>DATA LAYER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8850000" y="32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PostgreSQL 14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8850000" y="36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Prisma ORM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8850000" y="40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Audit Logs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8850000" y="44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Certificate Store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8850000" y="4830000"/>
            <a:ext cx="2500000" cy="35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000" b="1">
                <a:solidFill>
                  <a:srgbClr val="0F172A"/>
                </a:solidFill>
              </a:rPr>
              <a:t>SHA-256 Hash Ledger</a:t>
            </a:r>
          </a:p>
        </p:txBody>
      </p:sp>
      <p:sp>
        <p:nvSpPr>
          <p:cNvPr id="17435" name="Right Arrow 17434"/>
          <p:cNvSpPr/>
          <p:nvPr/>
        </p:nvSpPr>
        <p:spPr>
          <a:xfrm>
            <a:off x="3000000" y="2850000"/>
            <a:ext cx="200000" cy="15000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Right Arrow 17435"/>
          <p:cNvSpPr/>
          <p:nvPr/>
        </p:nvSpPr>
        <p:spPr>
          <a:xfrm>
            <a:off x="5800000" y="2850000"/>
            <a:ext cx="200000" cy="15000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Right Arrow 17436"/>
          <p:cNvSpPr/>
          <p:nvPr/>
        </p:nvSpPr>
        <p:spPr>
          <a:xfrm>
            <a:off x="8600000" y="2850000"/>
            <a:ext cx="200000" cy="15000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Rounded Rectangle 17437"/>
          <p:cNvSpPr/>
          <p:nvPr/>
        </p:nvSpPr>
        <p:spPr>
          <a:xfrm>
            <a:off x="400000" y="5550000"/>
            <a:ext cx="11400000" cy="50000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sz="1100" b="1">
                <a:solidFill>
                  <a:srgbClr val="1E3A5F"/>
                </a:solidFill>
              </a:rPr>
              <a:t>System Performance: &lt;15ms OIML MPE computation  |  100% Offline-capable PWA  |  Zero vendor-lock RS-232 parser  |  129/129 tests passing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50000" y="200000"/>
            <a:ext cx="8000000" cy="900000"/>
          </a:xfrm>
        </p:spPr>
        <p:txBody>
          <a:bodyPr/>
          <a:lstStyle/>
          <a:p>
            <a:pPr eaLnBrk="1" hangingPunct="1">
              <a:buNone/>
            </a:pP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r>
              <a:rPr sz="2200" b="1">
                <a:solidFill>
                  <a:srgbClr val="1E3A5F"/>
                </a:solidFill>
              </a:rPr>
              <a:t>FEASIBILITY AND VIABILITY: Risk Mitigation &amp; Deployment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00000" y="1150000"/>
            <a:ext cx="11400000" cy="50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tabLst/>
              <a:defRPr/>
              <a:buNone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/>
            </a:r>
            <a:r>
              <a:rPr sz="1200" b="1">
                <a:solidFill>
                  <a:srgbClr val="1E3A5F"/>
                </a:solidFill>
              </a:rPr>
              <a:t>✅ Working Prototype: 15 core features built &amp; validated | 129/129 automated tests passing (100%) | Zero licensing cost (FOSS stack)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50000" y="180000"/>
            <a:ext cx="1250000" cy="8000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lang="en-US" dirty="0"/>
              <a:t/>
            </a:r>
            <a:r>
              <a:rPr sz="1000" b="1">
                <a:solidFill>
                  <a:srgbClr val="FFFFFF"/>
                </a:solidFill>
              </a:rPr>
              <a:t>Metrology
Innovators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400000" y="1800000"/>
          <a:ext cx="11400000" cy="4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0000"/>
                <a:gridCol w="3800000"/>
                <a:gridCol w="3800000"/>
              </a:tblGrid>
              <a:tr h="860000"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Feasibility Analysis ✅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Challenges &amp; Risks ⚠️</a:t>
                      </a:r>
                    </a:p>
                  </a:txBody>
                  <a:tcPr>
                    <a:solidFill>
                      <a:srgbClr val="B91C1C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Mitigation Strategies 🛡️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860000"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Technical: Sub-15ms OIML MPE computation across all 4 accuracy classes; ISO GUM uncertainty budget (k=2)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7F1D1D"/>
                          </a:solidFill>
                        </a:rPr>
                        <a:t>Legacy indicator protocol variance: Non-standard RS-232 ASCII formats across 1,656 mandis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1E40AF"/>
                          </a:solidFill>
                        </a:rPr>
                        <a:t>Protocol-agnostic regex parser with auto-baud detection (9600/4800) + virtual simulator fallback for field training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60000"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Operational: Offline PWA runs on any ₹10K Android tablet or refurbished laptop via Chrome browser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7F1D1D"/>
                          </a:solidFill>
                        </a:rPr>
                        <a:t>Zero 4G/WiFi coverage in remote agricultural mandi yards and rural warehouses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1E40AF"/>
                          </a:solidFill>
                        </a:rPr>
                        <a:t>IndexedDB offline transaction log with idempotent background auto-sync + SHA-256 conflict resolution on reconnect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0000"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Economic: Zero licensing fees (FOSS stack); no proprietary hardware adapters needed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7F1D1D"/>
                          </a:solidFill>
                        </a:rPr>
                        <a:t>Inspector resistance: Field officers hesitant to adopt digital certificates over familiar paper books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1E40AF"/>
                          </a:solidFill>
                        </a:rPr>
                        <a:t>3-step guided workflow reducing test entry to &lt;15 min + regional language UI (Hindi/Telugu/Marathi) + QR spot-checks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60000"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Regulatory: Conforms to OIML R-76 (2006/E) &amp; Legal Metrology Rules 2011 (incl. July 2026 amendments)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7F1D1D"/>
                          </a:solidFill>
                        </a:rPr>
                        <a:t>Certificate tampering and forgery risk for printed inspection slips at mandi gates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1E40AF"/>
                          </a:solidFill>
                        </a:rPr>
                        <a:t>HMAC-SHA256 cryptographic seal in offline-generated PDF + instant public QR verification at /verify/:certNo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50000" y="200000"/>
            <a:ext cx="8000000" cy="900000"/>
          </a:xfrm>
        </p:spPr>
        <p:txBody>
          <a:bodyPr/>
          <a:lstStyle/>
          <a:p>
            <a:pPr eaLnBrk="1" hangingPunct="1">
              <a:buNone/>
            </a:pP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r>
              <a:rPr sz="2200" b="1">
                <a:solidFill>
                  <a:srgbClr val="1E3A5F"/>
                </a:solidFill>
              </a:rPr>
              <a:t>IMPACT AND BENEFITS: National Scale Outcomes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00000" y="1150000"/>
            <a:ext cx="11400000" cy="180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tabLst/>
              <a:defRPr/>
              <a:spcAft>
                <a:spcPts val="400"/>
              </a:spcAft>
              <a:buNone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/>
            </a:r>
            <a:r>
              <a:rPr b="1" sz="1200">
                <a:solidFill>
                  <a:srgbClr val="0F172A"/>
                </a:solidFill>
              </a:rPr>
              <a:t>• Economic Savings: </a:t>
            </a:r>
            <a:r>
              <a:rPr b="0" sz="1100">
                <a:solidFill>
                  <a:srgbClr val="334155"/>
                </a:solidFill>
              </a:rPr>
              <a:t>Eliminates ₹420+ Crores annual procurement weighing discrepancies; reduces inspector labor cost by 87% (from 2 hrs to &lt;15 min per instrument).</a:t>
            </a:r>
          </a:p>
          <a:p>
            <a:pPr>
              <a:spcAft>
                <a:spcPts val="400"/>
              </a:spcAft>
              <a:buNone/>
            </a:pPr>
            <a:r>
              <a:rPr b="1" sz="1200">
                <a:solidFill>
                  <a:srgbClr val="0F172A"/>
                </a:solidFill>
              </a:rPr>
              <a:t>• Farmer Fraud Protection: </a:t>
            </a:r>
            <a:r>
              <a:rPr b="0" sz="1100">
                <a:solidFill>
                  <a:srgbClr val="334155"/>
                </a:solidFill>
              </a:rPr>
              <a:t>Guarantees fair pricing for 1.80 Crore farmers across 1,656 e-NAM mandis; transparent dispute resolution via public QR scan of legal calibration seal.</a:t>
            </a:r>
          </a:p>
          <a:p>
            <a:pPr>
              <a:spcAft>
                <a:spcPts val="400"/>
              </a:spcAft>
              <a:buNone/>
            </a:pPr>
            <a:r>
              <a:rPr b="1" sz="1200">
                <a:solidFill>
                  <a:srgbClr val="0F172A"/>
                </a:solidFill>
              </a:rPr>
              <a:t>• Governance &amp; Environmental: </a:t>
            </a:r>
            <a:r>
              <a:rPr b="0" sz="1100">
                <a:solidFill>
                  <a:srgbClr val="334155"/>
                </a:solidFill>
              </a:rPr>
              <a:t>Eliminates 50+ lakh paper verification certificates annually; provides DoCA real-time national compliance heatmaps across all State Directorates.</a:t>
            </a:r>
          </a:p>
          <a:p>
            <a:pPr>
              <a:spcAft>
                <a:spcPts val="400"/>
              </a:spcAft>
              <a:buNone/>
            </a:pPr>
            <a:r>
              <a:rPr b="1" sz="1200">
                <a:solidFill>
                  <a:srgbClr val="0F172A"/>
                </a:solidFill>
              </a:rPr>
              <a:t>• Inspector Throughput: </a:t>
            </a:r>
            <a:r>
              <a:rPr b="0" sz="1100">
                <a:solidFill>
                  <a:srgbClr val="334155"/>
                </a:solidFill>
              </a:rPr>
              <a:t>Increases daily inspector capacity from 4 weighbridges/day (manual) to 25+ weighbridges/day (digital), eliminating the national verification backlog.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50000" y="180000"/>
            <a:ext cx="1250000" cy="8000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lang="en-US" dirty="0"/>
              <a:t/>
            </a:r>
            <a:r>
              <a:rPr sz="1000" b="1">
                <a:solidFill>
                  <a:srgbClr val="FFFFFF"/>
                </a:solidFill>
              </a:rPr>
              <a:t>Metrology
Innovators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00000" y="3200000"/>
            <a:ext cx="2650000" cy="240000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0000" rIns="80000" tIns="150000"/>
          <a:lstStyle/>
          <a:p>
            <a:pPr algn="ctr">
              <a:spcAft>
                <a:spcPts val="200"/>
              </a:spcAft>
              <a:buNone/>
            </a:pPr>
            <a:r>
              <a:rPr sz="3600" b="1">
                <a:solidFill>
                  <a:srgbClr val="FFFFFF"/>
                </a:solidFill>
              </a:rPr>
              <a:t>10x</a:t>
            </a:r>
          </a:p>
          <a:p>
            <a:pPr algn="ctr">
              <a:spcAft>
                <a:spcPts val="600"/>
              </a:spcAft>
              <a:buNone/>
            </a:pPr>
            <a:r>
              <a:rPr sz="1400" b="1">
                <a:solidFill>
                  <a:srgbClr val="FFFFFF"/>
                </a:solidFill>
              </a:rPr>
              <a:t>FASTER</a:t>
            </a:r>
          </a:p>
          <a:p>
            <a:pPr algn="ctr">
              <a:buNone/>
            </a:pPr>
            <a:r>
              <a:rPr sz="1100" b="0">
                <a:solidFill>
                  <a:srgbClr val="E2E8F0"/>
                </a:solidFill>
              </a:rPr>
              <a:t>Field Verification
Cycle Time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00000" y="3200000"/>
            <a:ext cx="2650000" cy="240000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0000" rIns="80000" tIns="150000"/>
          <a:lstStyle/>
          <a:p>
            <a:pPr algn="ctr">
              <a:spcAft>
                <a:spcPts val="200"/>
              </a:spcAft>
              <a:buNone/>
            </a:pPr>
            <a:r>
              <a:rPr sz="3600" b="1">
                <a:solidFill>
                  <a:srgbClr val="FFFFFF"/>
                </a:solidFill>
              </a:rPr>
              <a:t>1,656</a:t>
            </a:r>
          </a:p>
          <a:p>
            <a:pPr algn="ctr">
              <a:spcAft>
                <a:spcPts val="600"/>
              </a:spcAft>
              <a:buNone/>
            </a:pPr>
            <a:r>
              <a:rPr sz="1400" b="1">
                <a:solidFill>
                  <a:srgbClr val="FFFFFF"/>
                </a:solidFill>
              </a:rPr>
              <a:t>MANDIS</a:t>
            </a:r>
          </a:p>
          <a:p>
            <a:pPr algn="ctr">
              <a:buNone/>
            </a:pPr>
            <a:r>
              <a:rPr sz="1100" b="0">
                <a:solidFill>
                  <a:srgbClr val="E2E8F0"/>
                </a:solidFill>
              </a:rPr>
              <a:t>Agricultural Markets
Covered Nationwide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000000" y="3200000"/>
            <a:ext cx="2650000" cy="24000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0000" rIns="80000" tIns="150000"/>
          <a:lstStyle/>
          <a:p>
            <a:pPr algn="ctr">
              <a:spcAft>
                <a:spcPts val="200"/>
              </a:spcAft>
              <a:buNone/>
            </a:pPr>
            <a:r>
              <a:rPr sz="3600" b="1">
                <a:solidFill>
                  <a:srgbClr val="FFFFFF"/>
                </a:solidFill>
              </a:rPr>
              <a:t>1.80 Cr</a:t>
            </a:r>
          </a:p>
          <a:p>
            <a:pPr algn="ctr">
              <a:spcAft>
                <a:spcPts val="600"/>
              </a:spcAft>
              <a:buNone/>
            </a:pPr>
            <a:r>
              <a:rPr sz="1400" b="1">
                <a:solidFill>
                  <a:srgbClr val="FFFFFF"/>
                </a:solidFill>
              </a:rPr>
              <a:t>FARMERS</a:t>
            </a:r>
          </a:p>
          <a:p>
            <a:pPr algn="ctr">
              <a:buNone/>
            </a:pPr>
            <a:r>
              <a:rPr sz="1100" b="0">
                <a:solidFill>
                  <a:srgbClr val="E2E8F0"/>
                </a:solidFill>
              </a:rPr>
              <a:t>Protected from
Weight Manipulation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8800000" y="3200000"/>
            <a:ext cx="2650000" cy="24000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0000" rIns="80000" tIns="150000"/>
          <a:lstStyle/>
          <a:p>
            <a:pPr algn="ctr">
              <a:spcAft>
                <a:spcPts val="200"/>
              </a:spcAft>
              <a:buNone/>
            </a:pPr>
            <a:r>
              <a:rPr sz="3600" b="1">
                <a:solidFill>
                  <a:srgbClr val="FFFFFF"/>
                </a:solidFill>
              </a:rPr>
              <a:t>100%</a:t>
            </a:r>
          </a:p>
          <a:p>
            <a:pPr algn="ctr">
              <a:spcAft>
                <a:spcPts val="600"/>
              </a:spcAft>
              <a:buNone/>
            </a:pPr>
            <a:r>
              <a:rPr sz="1400" b="1">
                <a:solidFill>
                  <a:srgbClr val="FFFFFF"/>
                </a:solidFill>
              </a:rPr>
              <a:t>TAMPER-PROOF</a:t>
            </a:r>
          </a:p>
          <a:p>
            <a:pPr algn="ctr">
              <a:buNone/>
            </a:pPr>
            <a:r>
              <a:rPr sz="1100" b="0">
                <a:solidFill>
                  <a:srgbClr val="E2E8F0"/>
                </a:solidFill>
              </a:rPr>
              <a:t>HMAC-SHA256
Digital Seal Security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00000" y="5700000"/>
            <a:ext cx="114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00" b="1">
                <a:solidFill>
                  <a:srgbClr val="1E3A5F"/>
                </a:solidFill>
              </a:rPr>
              <a:t>MANUAL: 2 hours per instrument  ➤➤➤  DIGITAL: Under 15 minutes  |  87.5% efficiency gain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50000" y="200000"/>
            <a:ext cx="8000000" cy="900000"/>
          </a:xfrm>
        </p:spPr>
        <p:txBody>
          <a:bodyPr/>
          <a:lstStyle/>
          <a:p>
            <a:pPr eaLnBrk="1" hangingPunct="1">
              <a:buNone/>
            </a:pP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r>
              <a:rPr sz="2200" b="1">
                <a:solidFill>
                  <a:srgbClr val="1E3A5F"/>
                </a:solidFill>
              </a:rPr>
              <a:t>RESEARCH AND REFERENCES: Standards &amp; Competitive Edge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00000" y="1200000"/>
            <a:ext cx="5200000" cy="240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tabLst/>
              <a:defRPr/>
              <a:spcAft>
                <a:spcPts val="600"/>
              </a:spcAft>
              <a:buNone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/>
            </a:r>
            <a:r>
              <a:rPr sz="1400" b="1">
                <a:solidFill>
                  <a:srgbClr val="1E3A5F"/>
                </a:solidFill>
              </a:rPr>
              <a:t>1. International Metrology Standards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b="1" sz="1100">
                <a:solidFill>
                  <a:srgbClr val="0F172A"/>
                </a:solidFill>
              </a:rPr>
              <a:t>• OIML R 76-1:2006: </a:t>
            </a:r>
            <a:r>
              <a:rPr b="0" sz="1000">
                <a:solidFill>
                  <a:srgbClr val="334155"/>
                </a:solidFill>
              </a:rPr>
              <a:t>Non-automatic weighing instruments — Metrological &amp; technical requirements; Table 3 MPE limits.</a:t>
            </a:r>
          </a:p>
          <a:p>
            <a:pPr>
              <a:spcAft>
                <a:spcPts val="400"/>
              </a:spcAft>
              <a:buNone/>
            </a:pPr>
            <a:r>
              <a:rPr b="1" sz="1100">
                <a:solidFill>
                  <a:srgbClr val="0F172A"/>
                </a:solidFill>
              </a:rPr>
              <a:t>• OIML R 76-2:2007: </a:t>
            </a:r>
            <a:r>
              <a:rPr b="0" sz="1000">
                <a:solidFill>
                  <a:srgbClr val="334155"/>
                </a:solidFill>
              </a:rPr>
              <a:t>Standardized test report format and repeatable testing procedures.</a:t>
            </a:r>
          </a:p>
          <a:p>
            <a:pPr>
              <a:spcAft>
                <a:spcPts val="400"/>
              </a:spcAft>
              <a:buNone/>
            </a:pPr>
            <a:r>
              <a:rPr b="1" sz="1100">
                <a:solidFill>
                  <a:srgbClr val="0F172A"/>
                </a:solidFill>
              </a:rPr>
              <a:t>• ISO/IEC Guide 98-3 (GUM): </a:t>
            </a:r>
            <a:r>
              <a:rPr b="0" sz="1000">
                <a:solidFill>
                  <a:srgbClr val="334155"/>
                </a:solidFill>
              </a:rPr>
              <a:t>Expanded uncertainty budget calculation (k=2, 95.45% confidence level).</a:t>
            </a:r>
          </a:p>
          <a:p>
            <a:pPr>
              <a:spcAft>
                <a:spcPts val="400"/>
              </a:spcAft>
              <a:buNone/>
            </a:pPr>
            <a:r>
              <a:rPr b="1" sz="1100">
                <a:solidFill>
                  <a:srgbClr val="0F172A"/>
                </a:solidFill>
              </a:rPr>
              <a:t>• EURAMET cg-18 v4.0: </a:t>
            </a:r>
            <a:r>
              <a:rPr b="0" sz="1000">
                <a:solidFill>
                  <a:srgbClr val="334155"/>
                </a:solidFill>
              </a:rPr>
              <a:t>Calibration guidelines — repeatability, eccentricity &amp; temperature formulas.</a:t>
            </a:r>
          </a:p>
          <a:p>
            <a:pPr>
              <a:spcAft>
                <a:spcPts val="400"/>
              </a:spcAft>
              <a:buNone/>
            </a:pPr>
            <a:r>
              <a:rPr b="1" sz="1100">
                <a:solidFill>
                  <a:srgbClr val="0F172A"/>
                </a:solidFill>
              </a:rPr>
              <a:t>• WELMEC Guide 7.2: </a:t>
            </a:r>
            <a:r>
              <a:rPr b="0" sz="1000">
                <a:solidFill>
                  <a:srgbClr val="334155"/>
                </a:solidFill>
              </a:rPr>
              <a:t>Software Guide (Measuring Instruments Directive 2014/32/EU) — Risk Class D compliance.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50000" y="180000"/>
            <a:ext cx="1250000" cy="8000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buNone/>
            </a:pPr>
            <a:r>
              <a:rPr lang="en-US" dirty="0"/>
              <a:t/>
            </a:r>
            <a:r>
              <a:rPr sz="1000" b="1">
                <a:solidFill>
                  <a:srgbClr val="FFFFFF"/>
                </a:solidFill>
              </a:rPr>
              <a:t>Metrology
Innovators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5800000" y="1200000"/>
            <a:ext cx="59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1400" b="1">
                <a:solidFill>
                  <a:srgbClr val="1E3A5F"/>
                </a:solidFill>
              </a:rPr>
              <a:t>2. Indian Legal Framework &amp; Government Portals</a:t>
            </a:r>
          </a:p>
          <a:p>
            <a:pPr>
              <a:spcAft>
                <a:spcPts val="300"/>
              </a:spcAft>
              <a:buNone/>
            </a:pPr>
            <a:r>
              <a:rPr b="1" sz="1100">
                <a:solidFill>
                  <a:srgbClr val="0F172A"/>
                </a:solidFill>
              </a:rPr>
              <a:t>• Legal Metrology Act, 2009: </a:t>
            </a:r>
            <a:r>
              <a:rPr b="0" sz="1000">
                <a:solidFill>
                  <a:srgbClr val="334155"/>
                </a:solidFill>
              </a:rPr>
              <a:t>Statutory mandates for verification &amp; calibration of commercial weighing instruments.</a:t>
            </a:r>
          </a:p>
          <a:p>
            <a:pPr>
              <a:spcAft>
                <a:spcPts val="300"/>
              </a:spcAft>
              <a:buNone/>
            </a:pPr>
            <a:r>
              <a:rPr b="1" sz="1100">
                <a:solidFill>
                  <a:srgbClr val="0F172A"/>
                </a:solidFill>
              </a:rPr>
              <a:t>• Legal Metrology Rules, 2011: </a:t>
            </a:r>
            <a:r>
              <a:rPr b="0" sz="1000">
                <a:solidFill>
                  <a:srgbClr val="334155"/>
                </a:solidFill>
              </a:rPr>
              <a:t>Seventh Schedule standards, incl. July 2026 amendments for high-capacity scales (≥1 tonne).</a:t>
            </a:r>
          </a:p>
          <a:p>
            <a:pPr>
              <a:spcAft>
                <a:spcPts val="300"/>
              </a:spcAft>
              <a:buNone/>
            </a:pPr>
            <a:r>
              <a:rPr b="1" sz="1100">
                <a:solidFill>
                  <a:srgbClr val="0F172A"/>
                </a:solidFill>
              </a:rPr>
              <a:t>• BIS IS 9281 (Parts 1-4): </a:t>
            </a:r>
            <a:r>
              <a:rPr b="0" sz="1000">
                <a:solidFill>
                  <a:srgbClr val="334155"/>
                </a:solidFill>
              </a:rPr>
              <a:t>Bureau of Indian Standards specs for electronic weighing systems and load cells.</a:t>
            </a:r>
          </a:p>
          <a:p>
            <a:pPr>
              <a:spcAft>
                <a:spcPts val="300"/>
              </a:spcAft>
              <a:buNone/>
            </a:pPr>
            <a:r>
              <a:rPr b="1" sz="1100">
                <a:solidFill>
                  <a:srgbClr val="0F172A"/>
                </a:solidFill>
              </a:rPr>
              <a:t>• DoCA eMaap Portal: </a:t>
            </a:r>
            <a:r>
              <a:rPr b="0" sz="1000">
                <a:solidFill>
                  <a:srgbClr val="334155"/>
                </a:solidFill>
              </a:rPr>
              <a:t>Department of Consumer Affairs online enforcement and inspection tracking system.</a:t>
            </a:r>
          </a:p>
          <a:p>
            <a:pPr>
              <a:spcAft>
                <a:spcPts val="300"/>
              </a:spcAft>
              <a:buNone/>
            </a:pPr>
            <a:r>
              <a:rPr b="1" sz="1100">
                <a:solidFill>
                  <a:srgbClr val="0F172A"/>
                </a:solidFill>
              </a:rPr>
              <a:t>• e-NAM Platform: </a:t>
            </a:r>
            <a:r>
              <a:rPr b="0" sz="1000">
                <a:solidFill>
                  <a:srgbClr val="334155"/>
                </a:solidFill>
              </a:rPr>
              <a:t>National Agriculture Market: 1,656 mandis, 1.80 Cr farmers (June 2026 official data).</a:t>
            </a:r>
          </a:p>
          <a:p>
            <a:pPr>
              <a:spcAft>
                <a:spcPts val="300"/>
              </a:spcAft>
              <a:buNone/>
            </a:pPr>
            <a:r>
              <a:rPr b="1" sz="1100">
                <a:solidFill>
                  <a:srgbClr val="0F172A"/>
                </a:solidFill>
              </a:rPr>
              <a:t>• CSIR-NPL: </a:t>
            </a:r>
            <a:r>
              <a:rPr b="0" sz="1000">
                <a:solidFill>
                  <a:srgbClr val="334155"/>
                </a:solidFill>
              </a:rPr>
              <a:t>National Physical Laboratory — apex metrological standards &amp; calibration traceability.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400000" y="3800000"/>
          <a:ext cx="114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200000"/>
                <a:gridCol w="2000000"/>
                <a:gridCol w="2200000"/>
                <a:gridCol w="2200000"/>
              </a:tblGrid>
              <a:tr h="342857"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Feature / Metric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NAWI-ReportPro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Manual Paper</a:t>
                      </a:r>
                    </a:p>
                  </a:txBody>
                  <a:tcPr>
                    <a:solidFill>
                      <a:srgbClr val="6B7280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DoCA eMaap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Proprietary SCADA</a:t>
                      </a:r>
                    </a:p>
                  </a:txBody>
                  <a:tcPr>
                    <a:solidFill>
                      <a:srgbClr val="6B7280"/>
                    </a:solidFill>
                  </a:tcPr>
                </a:tc>
              </a:tr>
              <a:tr h="342857"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rgbClr val="0F172A"/>
                          </a:solidFill>
                        </a:rPr>
                        <a:t>Direct RS-232 Telemetry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✅ Zero typing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❌ Manual entry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❌ Manual form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✅ Vendor-locked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42857"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rgbClr val="0F172A"/>
                          </a:solidFill>
                        </a:rPr>
                        <a:t>OIML R-76 MPE Engine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✅ Instant (all classes)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❌ Manual calc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❌ No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⚠️ Basic tolerance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857"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rgbClr val="0F172A"/>
                          </a:solidFill>
                        </a:rPr>
                        <a:t>Offline PWA (Remote Mandis)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✅ IndexedDB + sync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✅ Paper-based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❌ Needs internet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❌ On-prem server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42857"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rgbClr val="0F172A"/>
                          </a:solidFill>
                        </a:rPr>
                        <a:t>Tamper-Proof Certificates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✅ HMAC-SHA256 + QR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❌ Forgeable stamps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⚠️ Basic DB entry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❌ Proprietary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857"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rgbClr val="0F172A"/>
                          </a:solidFill>
                        </a:rPr>
                        <a:t>Hardware Independence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✅ Any scale vendor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❌ OEM only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42858">
                <a:tc>
                  <a:txBody>
                    <a:bodyPr wrap="square" lIns="50000" rIns="50000" tIns="30000" bIns="30000"/>
                    <a:lstStyle/>
                    <a:p>
                      <a:pPr algn="l">
                        <a:buNone/>
                      </a:pPr>
                      <a:r>
                        <a:rPr sz="1000" b="1">
                          <a:solidFill>
                            <a:srgbClr val="0F172A"/>
                          </a:solidFill>
                        </a:rPr>
                        <a:t>Total Software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₹0 (FOSS Stack)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High recurring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Govt funded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30000" bIns="30000"/>
                    <a:lstStyle/>
                    <a:p>
                      <a:pPr algn="ctr">
                        <a:buNone/>
                      </a:pPr>
                      <a:r>
                        <a:rPr sz="1000" b="0">
                          <a:solidFill>
                            <a:srgbClr val="0F172A"/>
                          </a:solidFill>
                        </a:rPr>
                        <a:t>₹5L–15L / site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