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00000" y="1100000"/>
            <a:ext cx="6000000" cy="800000"/>
          </a:xfrm>
        </p:spPr>
        <p:txBody>
          <a:bodyPr/>
          <a:lstStyle/>
          <a:p>
            <a:pPr>
              <a:buNone/>
            </a:pPr>
            <a:r>
              <a:rPr sz="2200" b="1">
                <a:solidFill>
                  <a:srgbClr val="1E3A5F"/>
                </a:solidFill>
              </a:rPr>
              <a:t>NAWI-ReportPro: OIML R-76 Digital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00" y="2000000"/>
            <a:ext cx="58000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b="1" sz="1600">
                <a:solidFill>
                  <a:srgbClr val="1E3A5F"/>
                </a:solidFill>
              </a:rPr>
              <a:t>Problem Statement ID: </a:t>
            </a:r>
            <a:r>
              <a:rPr b="1" sz="1600">
                <a:solidFill>
                  <a:srgbClr val="D97706"/>
                </a:solidFill>
              </a:rPr>
              <a:t>26035</a:t>
            </a:r>
            <a:endParaRPr lang="en-US" dirty="0"/>
          </a:p>
          <a:p>
            <a:pPr>
              <a:spcAft>
                <a:spcPts val="1200"/>
              </a:spcAft>
              <a:buNone/>
            </a:pPr>
            <a:r>
              <a:rPr b="1" sz="1600">
                <a:solidFill>
                  <a:srgbClr val="1E3A5F"/>
                </a:solidFill>
              </a:rPr>
              <a:t>Problem Statement Title:
</a:t>
            </a:r>
            <a:r>
              <a:rPr b="0" sz="1600">
                <a:solidFill>
                  <a:srgbClr val="0F172A"/>
                </a:solidFill>
              </a:rPr>
              <a:t>Automated Test Report Generator for Non-Automatic Weighing Instruments (NAWI)</a:t>
            </a:r>
          </a:p>
          <a:p>
            <a:pPr>
              <a:spcAft>
                <a:spcPts val="1200"/>
              </a:spcAft>
              <a:buNone/>
            </a:pPr>
            <a:r>
              <a:rPr b="1" sz="1600">
                <a:solidFill>
                  <a:srgbClr val="1E3A5F"/>
                </a:solidFill>
              </a:rPr>
              <a:t>Theme: </a:t>
            </a:r>
            <a:r>
              <a:rPr b="0" sz="1600">
                <a:solidFill>
                  <a:srgbClr val="0F172A"/>
                </a:solidFill>
              </a:rPr>
              <a:t>Smart Automation</a:t>
            </a:r>
          </a:p>
          <a:p>
            <a:pPr>
              <a:spcAft>
                <a:spcPts val="1200"/>
              </a:spcAft>
              <a:buNone/>
            </a:pPr>
            <a:r>
              <a:rPr b="1" sz="1600">
                <a:solidFill>
                  <a:srgbClr val="1E3A5F"/>
                </a:solidFill>
              </a:rPr>
              <a:t>PS Category: </a:t>
            </a:r>
            <a:r>
              <a:rPr b="0" sz="160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1200"/>
              </a:spcAft>
              <a:buNone/>
            </a:pPr>
            <a:r>
              <a:rPr b="1" sz="1600">
                <a:solidFill>
                  <a:srgbClr val="1E3A5F"/>
                </a:solidFill>
              </a:rPr>
              <a:t>Team ID: </a:t>
            </a:r>
            <a:r>
              <a:rPr b="0" sz="1600">
                <a:solidFill>
                  <a:srgbClr val="0F172A"/>
                </a:solidFill>
              </a:rPr>
              <a:t>SIH2026-TEAM-NAWI</a:t>
            </a:r>
          </a:p>
          <a:p>
            <a:pPr>
              <a:spcAft>
                <a:spcPts val="1200"/>
              </a:spcAft>
              <a:buNone/>
            </a:pPr>
            <a:r>
              <a:rPr b="1" sz="1600">
                <a:solidFill>
                  <a:srgbClr val="1E3A5F"/>
                </a:solidFill>
              </a:rPr>
              <a:t>Team Name: </a:t>
            </a:r>
            <a:r>
              <a:rPr b="0" sz="1600">
                <a:solidFill>
                  <a:srgbClr val="0F172A"/>
                </a:solidFill>
              </a:rPr>
              <a:t>Metrology Innovators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50000" y="200000"/>
            <a:ext cx="8000000" cy="900000"/>
          </a:xfrm>
        </p:spPr>
        <p:txBody>
          <a:bodyPr/>
          <a:lstStyle/>
          <a:p>
            <a:pPr eaLnBrk="1" hangingPunct="1">
              <a:buNone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sz="2400" b="1">
                <a:solidFill>
                  <a:srgbClr val="1E3A5F"/>
                </a:solidFill>
              </a:rPr>
              <a:t>NAWI-ReportPro: Automated Digital Metrology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00000" y="1300000"/>
            <a:ext cx="5900000" cy="4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None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/>
            </a:r>
            <a:r>
              <a:rPr sz="1800" b="1">
                <a:solidFill>
                  <a:srgbClr val="1E3A5F"/>
                </a:solidFill>
              </a:rPr>
              <a:t>Proposed Solution &amp; Core Innovations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Digital Transformation: </a:t>
            </a:r>
            <a:r>
              <a:rPr b="0" sz="1100">
                <a:solidFill>
                  <a:srgbClr val="334155"/>
                </a:solidFill>
              </a:rPr>
              <a:t>Replaces manual paper verification for Non-Automatic Weighing Instruments (scales &amp; truck weighbridges) with an end-to-end digital system.</a:t>
            </a: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Direct Scale Telemetry: </a:t>
            </a:r>
            <a:r>
              <a:rPr b="0" sz="1100">
                <a:solidFill>
                  <a:srgbClr val="334155"/>
                </a:solidFill>
              </a:rPr>
              <a:t>Connects directly to weighing indicators via browser Web Serial API (RS-232/USB) — live weight capture with zero manual typing errors.</a:t>
            </a: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OIML R-76 Engine: </a:t>
            </a:r>
            <a:r>
              <a:rPr b="0" sz="1100">
                <a:solidFill>
                  <a:srgbClr val="334155"/>
                </a:solidFill>
              </a:rPr>
              <a:t>Automates Maximum Permissible Error (MPE) calculations across all 4 accuracy classes (Class I to IIII) with multi-interval tare compensation.</a:t>
            </a: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Tamper-Proof Certificates: </a:t>
            </a:r>
            <a:r>
              <a:rPr b="0" sz="1100">
                <a:solidFill>
                  <a:srgbClr val="334155"/>
                </a:solidFill>
              </a:rPr>
              <a:t>Issues legal verification certificates secured with HMAC-SHA256 digital seals and instant QR code public verification.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50000" y="180000"/>
            <a:ext cx="1250000" cy="8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dirty="0"/>
              <a:t/>
            </a:r>
            <a:r>
              <a:rPr sz="1000" b="1">
                <a:solidFill>
                  <a:srgbClr val="1E3A5F"/>
                </a:solidFill>
              </a:rPr>
              <a:t>Metrology
Innovators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olution_overview_17884295553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000" y="1350000"/>
            <a:ext cx="5300000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200000"/>
            <a:ext cx="8000000" cy="900000"/>
          </a:xfrm>
        </p:spPr>
        <p:txBody>
          <a:bodyPr/>
          <a:lstStyle/>
          <a:p>
            <a:pPr eaLnBrk="1" hangingPunct="1">
              <a:buNone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sz="2400" b="1">
                <a:solidFill>
                  <a:srgbClr val="1E3A5F"/>
                </a:solidFill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150000"/>
            <a:ext cx="11400000" cy="1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200"/>
              </a:spcAft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  <a:r>
              <a:rPr b="1" sz="1100">
                <a:solidFill>
                  <a:srgbClr val="0F172A"/>
                </a:solidFill>
              </a:rPr>
              <a:t>• Hardware Layer: </a:t>
            </a:r>
            <a:r>
              <a:rPr b="0" sz="1100">
                <a:solidFill>
                  <a:srgbClr val="334155"/>
                </a:solidFill>
              </a:rPr>
              <a:t>Browser Web Serial API reads continuous ASCII/HEX telemetry streams from Mettler Toledo (SICS), Avery Weigh-Tronix, and Essae indicators.</a:t>
            </a:r>
          </a:p>
          <a:p>
            <a:pPr>
              <a:spcAft>
                <a:spcPts val="2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Application Stack: </a:t>
            </a:r>
            <a:r>
              <a:rPr b="0" sz="1100">
                <a:solidFill>
                  <a:srgbClr val="334155"/>
                </a:solidFill>
              </a:rPr>
              <a:t>React 18 PWA frontend + Node.js Express REST API + PostgreSQL 14 with Prisma ORM + PDFKit high-resolution certificate engine.</a:t>
            </a:r>
          </a:p>
          <a:p>
            <a:pPr>
              <a:spcAft>
                <a:spcPts val="2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Metrology &amp; Offline Stack: </a:t>
            </a:r>
            <a:r>
              <a:rPr b="0" sz="1100">
                <a:solidFill>
                  <a:srgbClr val="334155"/>
                </a:solidFill>
              </a:rPr>
              <a:t>OIML R-76 MPE computation engine, ISO GUM uncertainty budget (k=2), and IndexedDB queue with idempotent background sync for remote mandis.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50000" y="180000"/>
            <a:ext cx="1250000" cy="8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dirty="0"/>
              <a:t/>
            </a:r>
            <a:r>
              <a:rPr sz="1000" b="1">
                <a:solidFill>
                  <a:srgbClr val="1E3A5F"/>
                </a:solidFill>
              </a:rPr>
              <a:t>Metrology
Innovators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_diagram_v2_1788429540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00" y="2700000"/>
            <a:ext cx="10200000" cy="34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200000"/>
            <a:ext cx="8000000" cy="900000"/>
          </a:xfrm>
        </p:spPr>
        <p:txBody>
          <a:bodyPr/>
          <a:lstStyle/>
          <a:p>
            <a:pPr eaLnBrk="1" hangingPunct="1">
              <a:buNone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sz="2400" b="1">
                <a:solidFill>
                  <a:srgbClr val="1E3A5F"/>
                </a:solidFill>
              </a:rPr>
              <a:t>FEASIBILITY, RISK MITIGATION &amp;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300000"/>
            <a:ext cx="5900000" cy="4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tabLst/>
              <a:defRPr/>
              <a:spcAft>
                <a:spcPts val="1000"/>
              </a:spcAft>
              <a:buNone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  <a:r>
              <a:rPr sz="1800" b="1">
                <a:solidFill>
                  <a:srgbClr val="1E3A5F"/>
                </a:solidFill>
              </a:rPr>
              <a:t>Key Feasibility Pillars &amp; Risk Strategies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Working Prototype Built: </a:t>
            </a:r>
            <a:r>
              <a:rPr b="0" sz="1100">
                <a:solidFill>
                  <a:srgbClr val="334155"/>
                </a:solidFill>
              </a:rPr>
              <a:t>All 15 core metrological features fully implemented and validated with 100% automated test pass rate (129/129 test cases passing).</a:t>
            </a: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Hardware Agnostic: </a:t>
            </a:r>
            <a:r>
              <a:rPr b="0" sz="1100">
                <a:solidFill>
                  <a:srgbClr val="334155"/>
                </a:solidFill>
              </a:rPr>
              <a:t>Protocol-agnostic serial parser interfaces with diverse vendor hardware; virtual simulator enables pre-deployment field training.</a:t>
            </a: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Remote Mandi Resilience: </a:t>
            </a:r>
            <a:r>
              <a:rPr b="0" sz="1100">
                <a:solidFill>
                  <a:srgbClr val="334155"/>
                </a:solidFill>
              </a:rPr>
              <a:t>Offline-first PWA with IndexedDB local caching allows full inspections in zero-connectivity rural yards with auto-sync upon reconnection.</a:t>
            </a:r>
          </a:p>
          <a:p>
            <a:pPr>
              <a:spcAft>
                <a:spcPts val="800"/>
              </a:spcAft>
              <a:buNone/>
            </a:pPr>
            <a:r>
              <a:rPr b="1" sz="1200">
                <a:solidFill>
                  <a:srgbClr val="0F172A"/>
                </a:solidFill>
              </a:rPr>
              <a:t>• Legal Metrology Compliance: </a:t>
            </a:r>
            <a:r>
              <a:rPr b="0" sz="1100">
                <a:solidFill>
                  <a:srgbClr val="334155"/>
                </a:solidFill>
              </a:rPr>
              <a:t>Conforms to OIML R-76 (Edition 2006/E) and the Legal Metrology (General) Rules 2011, including July 2026 amendments for high-capacity scales.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50000" y="180000"/>
            <a:ext cx="1250000" cy="8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dirty="0"/>
              <a:t/>
            </a:r>
            <a:r>
              <a:rPr sz="1000" b="1">
                <a:solidFill>
                  <a:srgbClr val="1E3A5F"/>
                </a:solidFill>
              </a:rPr>
              <a:t>Metrology
Innovators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feasibility_matrix_178842997949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000" y="1350000"/>
            <a:ext cx="530000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200000"/>
            <a:ext cx="8000000" cy="900000"/>
          </a:xfrm>
        </p:spPr>
        <p:txBody>
          <a:bodyPr/>
          <a:lstStyle/>
          <a:p>
            <a:pPr eaLnBrk="1" hangingPunct="1">
              <a:buNone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sz="2400" b="1">
                <a:solidFill>
                  <a:srgbClr val="1E3A5F"/>
                </a:solidFill>
              </a:rPr>
              <a:t>QUANTIFIED IMPACT &amp; NATIONAL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150000"/>
            <a:ext cx="11400000" cy="1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tabLst/>
              <a:defRPr/>
              <a:spcAft>
                <a:spcPts val="200"/>
              </a:spcAft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r>
              <a:rPr b="1" sz="1100">
                <a:solidFill>
                  <a:srgbClr val="0F172A"/>
                </a:solidFill>
              </a:rPr>
              <a:t>• 10x Faster Field Verification: </a:t>
            </a:r>
            <a:r>
              <a:rPr b="0" sz="1100">
                <a:solidFill>
                  <a:srgbClr val="334155"/>
                </a:solidFill>
              </a:rPr>
              <a:t>Automated calculations reduce inspection duration from 2 hours to under 15 minutes per instrument, eliminating backlogs.</a:t>
            </a:r>
          </a:p>
          <a:p>
            <a:pPr>
              <a:spcAft>
                <a:spcPts val="2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Protecting 1.80 Crore Farmers: </a:t>
            </a:r>
            <a:r>
              <a:rPr b="0" sz="1100">
                <a:solidFill>
                  <a:srgbClr val="334155"/>
                </a:solidFill>
              </a:rPr>
              <a:t>Guarantees accurate weighing across 1,656 e-NAM agricultural mandis nationwide (DoCA/e-NAM official data, June 2026).</a:t>
            </a:r>
          </a:p>
          <a:p>
            <a:pPr>
              <a:spcAft>
                <a:spcPts val="2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100% Tamper-Proof Legal Seals: </a:t>
            </a:r>
            <a:r>
              <a:rPr b="0" sz="1100">
                <a:solidFill>
                  <a:srgbClr val="334155"/>
                </a:solidFill>
              </a:rPr>
              <a:t>HMAC-SHA256 digital seals with instant public QR validation completely eliminate forged paper calibration certificates.</a:t>
            </a:r>
          </a:p>
          <a:p>
            <a:pPr>
              <a:spcAft>
                <a:spcPts val="2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Paperless E-Governance: </a:t>
            </a:r>
            <a:r>
              <a:rPr b="0" sz="1100">
                <a:solidFill>
                  <a:srgbClr val="334155"/>
                </a:solidFill>
              </a:rPr>
              <a:t>Replaces multi-page carbon inspection forms with centralized, cryptographically auditable digital records across all State Directorates.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50000" y="180000"/>
            <a:ext cx="1250000" cy="8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dirty="0"/>
              <a:t/>
            </a:r>
            <a:r>
              <a:rPr sz="1000" b="1">
                <a:solidFill>
                  <a:srgbClr val="1E3A5F"/>
                </a:solidFill>
              </a:rPr>
              <a:t>Metrology
Innovators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pact_v2_17884299904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00" y="2750000"/>
            <a:ext cx="10200000" cy="3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200000"/>
            <a:ext cx="8000000" cy="900000"/>
          </a:xfrm>
        </p:spPr>
        <p:txBody>
          <a:bodyPr/>
          <a:lstStyle/>
          <a:p>
            <a:pPr eaLnBrk="1" hangingPunct="1">
              <a:buNone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sz="2400" b="1">
                <a:solidFill>
                  <a:srgbClr val="1E3A5F"/>
                </a:solidFill>
              </a:rPr>
              <a:t>RESEARCH FOUNDATION &amp; REGULATORY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300000"/>
            <a:ext cx="5500000" cy="4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tabLst/>
              <a:defRPr/>
              <a:spcAft>
                <a:spcPts val="800"/>
              </a:spcAft>
              <a:buNone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  <a:r>
              <a:rPr sz="1600" b="1">
                <a:solidFill>
                  <a:srgbClr val="1E3A5F"/>
                </a:solidFill>
              </a:rPr>
              <a:t>1. International Metrology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OIML R 76-1:2006: </a:t>
            </a:r>
            <a:r>
              <a:rPr b="0" sz="1000">
                <a:solidFill>
                  <a:srgbClr val="334155"/>
                </a:solidFill>
              </a:rPr>
              <a:t>Non-automatic weighing instruments — Metrological &amp; technical requirements; Table 3 MPE tolerance limits, Section 3.5.</a:t>
            </a:r>
          </a:p>
          <a:p>
            <a:pPr>
              <a:spcAft>
                <a:spcPts val="6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OIML R 76-2:2007: </a:t>
            </a:r>
            <a:r>
              <a:rPr b="0" sz="1000">
                <a:solidFill>
                  <a:srgbClr val="334155"/>
                </a:solidFill>
              </a:rPr>
              <a:t>Non-automatic weighing instruments — Standardized test report format and repeatable testing procedures.</a:t>
            </a:r>
          </a:p>
          <a:p>
            <a:pPr>
              <a:spcAft>
                <a:spcPts val="6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ISO/IEC Guide 98-3:2008 (GUM): </a:t>
            </a:r>
            <a:r>
              <a:rPr b="0" sz="1000">
                <a:solidFill>
                  <a:srgbClr val="334155"/>
                </a:solidFill>
              </a:rPr>
              <a:t>Guide to the Expression of Uncertainty in Measurement — Expanded uncertainty budget calculation (k=2).</a:t>
            </a:r>
          </a:p>
          <a:p>
            <a:pPr>
              <a:spcAft>
                <a:spcPts val="600"/>
              </a:spcAft>
              <a:buNone/>
            </a:pPr>
            <a:r>
              <a:rPr b="1" sz="1100">
                <a:solidFill>
                  <a:srgbClr val="0F172A"/>
                </a:solidFill>
              </a:rPr>
              <a:t>• EURAMET cg-18 v4.0 (2015): </a:t>
            </a:r>
            <a:r>
              <a:rPr b="0" sz="1000">
                <a:solidFill>
                  <a:srgbClr val="334155"/>
                </a:solidFill>
              </a:rPr>
              <a:t>Guidelines on Calibration of NAWI — Repeatability, eccentricity &amp; temperature formulas.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50000" y="180000"/>
            <a:ext cx="1250000" cy="8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dirty="0"/>
              <a:t/>
            </a:r>
            <a:r>
              <a:rPr sz="1000" b="1">
                <a:solidFill>
                  <a:srgbClr val="1E3A5F"/>
                </a:solidFill>
              </a:rPr>
              <a:t>Metrology
Innovators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00000" y="1300000"/>
            <a:ext cx="56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1E3A5F"/>
                </a:solidFill>
              </a:rPr>
              <a:t>2. Indian Legal Framework &amp; Government Portals</a:t>
            </a:r>
          </a:p>
          <a:p>
            <a:pPr>
              <a:spcAft>
                <a:spcPts val="400"/>
              </a:spcAft>
              <a:buNone/>
            </a:pPr>
            <a:r>
              <a:rPr b="1" sz="1050">
                <a:solidFill>
                  <a:srgbClr val="0F172A"/>
                </a:solidFill>
              </a:rPr>
              <a:t>• Legal Metrology Act, 2009 (Act 1 of 2010): </a:t>
            </a:r>
            <a:r>
              <a:rPr b="0" sz="950">
                <a:solidFill>
                  <a:srgbClr val="334155"/>
                </a:solidFill>
              </a:rPr>
              <a:t>Statutory mandates for verification &amp; calibration of commercial weighing instruments.</a:t>
            </a:r>
          </a:p>
          <a:p>
            <a:pPr>
              <a:spcAft>
                <a:spcPts val="400"/>
              </a:spcAft>
              <a:buNone/>
            </a:pPr>
            <a:r>
              <a:rPr b="1" sz="1050">
                <a:solidFill>
                  <a:srgbClr val="0F172A"/>
                </a:solidFill>
              </a:rPr>
              <a:t>• Legal Metrology (General) Rules, 2011: </a:t>
            </a:r>
            <a:r>
              <a:rPr b="0" sz="950">
                <a:solidFill>
                  <a:srgbClr val="334155"/>
                </a:solidFill>
              </a:rPr>
              <a:t>Seventh Schedule standards, including July 2026 amendments rationalizing verification norms for high-capacity scales (&gt;=1 tonne).</a:t>
            </a:r>
          </a:p>
          <a:p>
            <a:pPr>
              <a:spcAft>
                <a:spcPts val="400"/>
              </a:spcAft>
              <a:buNone/>
            </a:pPr>
            <a:r>
              <a:rPr b="1" sz="1050">
                <a:solidFill>
                  <a:srgbClr val="0F172A"/>
                </a:solidFill>
              </a:rPr>
              <a:t>• BIS IS 9281 (Parts 1-4): </a:t>
            </a:r>
            <a:r>
              <a:rPr b="0" sz="950">
                <a:solidFill>
                  <a:srgbClr val="334155"/>
                </a:solidFill>
              </a:rPr>
              <a:t>Bureau of Indian Standards specifications for electronic weighing systems and load cells.</a:t>
            </a:r>
          </a:p>
          <a:p>
            <a:pPr>
              <a:spcAft>
                <a:spcPts val="400"/>
              </a:spcAft>
              <a:buNone/>
            </a:pPr>
            <a:r>
              <a:rPr b="1" sz="1050">
                <a:solidFill>
                  <a:srgbClr val="0F172A"/>
                </a:solidFill>
              </a:rPr>
              <a:t>• DoCA eMaap Portal (emaap.gov.in): </a:t>
            </a:r>
            <a:r>
              <a:rPr b="0" sz="950">
                <a:solidFill>
                  <a:srgbClr val="334155"/>
                </a:solidFill>
              </a:rPr>
              <a:t>Department of Consumer Affairs online enforcement and inspection tracking system.</a:t>
            </a:r>
          </a:p>
          <a:p>
            <a:pPr>
              <a:spcAft>
                <a:spcPts val="400"/>
              </a:spcAft>
              <a:buNone/>
            </a:pPr>
            <a:r>
              <a:rPr b="1" sz="1050">
                <a:solidFill>
                  <a:srgbClr val="0F172A"/>
                </a:solidFill>
              </a:rPr>
              <a:t>• e-NAM Platform (enam.gov.in): </a:t>
            </a:r>
            <a:r>
              <a:rPr b="0" sz="950">
                <a:solidFill>
                  <a:srgbClr val="334155"/>
                </a:solidFill>
              </a:rPr>
              <a:t>National Agriculture Market official data: 1,656 mandis, 1.80 Cr farmers (June 2026).</a:t>
            </a:r>
          </a:p>
          <a:p>
            <a:pPr>
              <a:spcAft>
                <a:spcPts val="400"/>
              </a:spcAft>
              <a:buNone/>
            </a:pPr>
            <a:r>
              <a:rPr b="1" sz="1050">
                <a:solidFill>
                  <a:srgbClr val="0F172A"/>
                </a:solidFill>
              </a:rPr>
              <a:t>• SIH Winner Benchmark: </a:t>
            </a:r>
            <a:r>
              <a:rPr b="0" sz="950">
                <a:solidFill>
                  <a:srgbClr val="334155"/>
                </a:solidFill>
              </a:rPr>
              <a:t>https://github.com/Aadiii00/SIH-Winners-PPt-and-Sources.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